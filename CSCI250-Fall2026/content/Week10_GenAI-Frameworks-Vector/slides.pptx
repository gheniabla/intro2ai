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200400"/>
            <a:ext cx="12191695" cy="73152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011680"/>
            <a:ext cx="105156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  <a:latin typeface="Calibri"/>
              </a:rPr>
              <a:t>Week 10 — GenAI Frameworks &amp; Vector Storage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3832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>
                <a:solidFill>
                  <a:srgbClr val="CFE3E3"/>
                </a:solidFill>
                <a:latin typeface="Calibri"/>
              </a:rPr>
              <a:t>CSCI 250 — Introduction to Artificial Intelligence · Fall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This Week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Build embeddings &amp; semantic search FROM SCRATCH (notebook 00 first)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Why keyword search fails; cosine similarity by hand; top-k search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ChromaDB = the scaled-up version of what you built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GenAI frameworks: LangChain building blocks &amp; chains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Document loaders &amp; text splitters; LlamaIndex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Assignment A8: embeddings + semantic search + a simple LLM app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2/15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Embeddings — Build It Before the Database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Start With the Dumb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Keyword / substring search matches LETTERS, not meaning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Query "a young feline resting" over "The cat napped..."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-&gt; zero hits: none of those words literally appear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 human sees the match instantly — the computer doesn't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That failure is exactly WHY embeddings exist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4/15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Embeddings + Cosine Similarity, by Hand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sentence_transformers import SentenceTransformer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import numpy as np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model = SentenceTransformer("all-MiniLM-L6-v2")  # 384-dim, local, free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emb = model.encode(corpus)            # (n, 384) meaning-vectors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def cosine(a, b):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np.dot(a, b) / (np.linalg.norm(a) * np.linalg.norm(b))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cosine(emb[0], emb[1])   # cat vs kitten -&gt; high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cosine(emb[0], emb[5])   # cat vs market -&gt; 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No library magic: a dot product over two normalized vectors. NO OpenAI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5/15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Top-k Semantic Search — From Scratch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def semantic_search(query, corpus, emb, k=3):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q = model.encode([query])[0]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scores = [cosine(q, e) for e in emb]   # vs every vector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ranked = sorted(enumerate(scores),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          key=lambda x: x[1], reverse=True)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return ranked[:k]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semantic_search("a young feline resting", corpus, emb)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-&gt; the cat sentences keyword search MISSED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This is the whole trick behind a vector database, in 5 lines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6/15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ChromaDB = The Scaled Version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import chromadb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 = chromadb.Client().create_collection("notes")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col.add(documents=corpus,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ids=[str(i) for i in range(len(corpus))])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col.query(query_texts=["a young feline resting"],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      n_results=3)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# same top results, now fast + indexed + persistent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col.query() IS your semantic_search() with an index under the hood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7/15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Why Frameworks?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LangChain vs LlamaIndex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LangChain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Chaining LLM steps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Swap models / providers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Tools &amp; agents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"Lego bricks for pipelines"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309360" y="1280160"/>
            <a:ext cx="51206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28C8C"/>
                </a:solidFill>
                <a:latin typeface="Calibri"/>
              </a:rPr>
              <a:t>LlamaIndex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1828800"/>
            <a:ext cx="512064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Ingest + index your docs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Q&amp;A / retrieval focus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Very little code</a:t>
            </a:r>
          </a:p>
          <a:p>
            <a:pPr>
              <a:spcAft>
                <a:spcPts val="800"/>
              </a:spcAft>
            </a:pPr>
            <a:r>
              <a:rPr sz="1800">
                <a:solidFill>
                  <a:srgbClr val="1A1A1A"/>
                </a:solidFill>
                <a:latin typeface="Calibri"/>
              </a:rPr>
              <a:t>• "A librarian for your docs"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9/15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8C8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2743200"/>
            <a:ext cx="10515600" cy="1371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Calibri"/>
              </a:rPr>
              <a:t>LangChain Building Blocks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Chains with LCEL (the | pipe)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langchain_anthropic import ChatAnthropic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langchain_core.prompts import ChatPromptTemplate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langchain_core.output_parsers import StrOutputParser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claude = ChatAnthropic(model="claude-sonnet-4-6", max_tokens=300)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prompt = ChatPromptTemplate.from_messages([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("human", "Explain {topic} in 2 sentences.")])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chain = prompt | claude | StrOutputParser()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print(chain.invoke({"topic": "vector stores"}))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Swap claude for gemini and the rest of the chain is unchanged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11/15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Loaders &amp; Splitters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325880"/>
            <a:ext cx="11064240" cy="4480560"/>
          </a:xfrm>
          <a:prstGeom prst="rect">
            <a:avLst/>
          </a:prstGeom>
          <a:solidFill>
            <a:srgbClr val="1E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tIns="137160"/>
          <a:lstStyle/>
          <a:p>
            <a:pPr algn="ctr"/>
            <a:r>
              <a:rPr sz="1500">
                <a:solidFill>
                  <a:srgbClr val="E6E6E6"/>
                </a:solidFill>
                <a:latin typeface="Consolas"/>
              </a:rPr>
              <a:t>from langchain_community.document_loaders import TextLoader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from langchain_text_splitters import RecursiveCharacterTextSplitter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docs = TextLoader("notes.txt").load()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splitter = RecursiveCharacterTextSplitter(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    chunk_size=500, chunk_overlap=50)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chunks = splitter.split_documents(docs)</a:t>
            </a:r>
          </a:p>
          <a:p>
            <a:r>
              <a:rPr sz="1500">
                <a:solidFill>
                  <a:srgbClr val="E6E6E6"/>
                </a:solidFill>
                <a:latin typeface="Consolas"/>
              </a:rPr>
              <a:t>print(len(chunks), "chunks")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897880"/>
            <a:ext cx="10515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6B7280"/>
                </a:solidFill>
                <a:latin typeface="Calibri"/>
              </a:rPr>
              <a:t>chunk_overlap repeats a little text so cross-boundary ideas survive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12/15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Preview: Ask-Your-Docs (→ RAG)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1. Retrieve relevant chunks (vector search)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2. Stuff them into the prompt as context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3. Generate a grounded answer (Claude or Gemini)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Next week (Week 11) = full citation-aware RAG pipeline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13/15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201168"/>
            <a:ext cx="11064240" cy="7315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2800" b="1">
                <a:solidFill>
                  <a:srgbClr val="FFFFFF"/>
                </a:solidFill>
                <a:latin typeface="Calibri"/>
              </a:rPr>
              <a:t>Final Project Ideas (posted this week)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37160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Ask-your-notes / docs chatbot (RAG)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Study-guide / quiz generator with citations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Codebase Q&amp;A — index a small repo</a:t>
            </a:r>
          </a:p>
          <a:p>
            <a:pPr>
              <a:spcAft>
                <a:spcPts val="800"/>
              </a:spcAft>
            </a:pPr>
            <a:r>
              <a:rPr sz="2000">
                <a:solidFill>
                  <a:srgbClr val="1A1A1A"/>
                </a:solidFill>
                <a:latin typeface="Calibri"/>
              </a:rPr>
              <a:t>• Policy / FAQ assistant that cites sources</a:t>
            </a:r>
          </a:p>
          <a:p>
            <a:pPr lvl="1">
              <a:spcAft>
                <a:spcPts val="800"/>
              </a:spcAft>
            </a:pPr>
            <a:r>
              <a:rPr sz="1800">
                <a:solidFill>
                  <a:srgbClr val="6B7280"/>
                </a:solidFill>
                <a:latin typeface="Calibri"/>
              </a:rPr>
              <a:t>– Proposal is Capstone M1 (Week 9); Capstone grows M2–M5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14/15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1F3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731520"/>
            <a:ext cx="10515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>
                <a:solidFill>
                  <a:srgbClr val="FFFFFF"/>
                </a:solidFill>
                <a:latin typeface="Calibri"/>
              </a:rPr>
              <a:t>This Week — To Do</a:t>
            </a:r>
          </a:p>
        </p:txBody>
      </p:sp>
      <p:sp>
        <p:nvSpPr>
          <p:cNvPr id="3" name="Rectangle 2"/>
          <p:cNvSpPr/>
          <p:nvPr/>
        </p:nvSpPr>
        <p:spPr>
          <a:xfrm>
            <a:off x="822960" y="1600200"/>
            <a:ext cx="3657600" cy="45720"/>
          </a:xfrm>
          <a:prstGeom prst="rect">
            <a:avLst/>
          </a:prstGeom>
          <a:solidFill>
            <a:srgbClr val="12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920240"/>
            <a:ext cx="1051560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00_embeddings_intuition.ipynb FIRST (build it from scratch)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01_langchain_llamaindex.ipynb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Run 02_embeddings_chromadb.ipynb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Draft one Final Project idea</a:t>
            </a:r>
          </a:p>
          <a:p>
            <a:pPr>
              <a:spcAft>
                <a:spcPts val="1200"/>
              </a:spcAft>
            </a:pPr>
            <a:r>
              <a:rPr sz="2200">
                <a:solidFill>
                  <a:srgbClr val="FFFFFF"/>
                </a:solidFill>
                <a:latin typeface="Calibri"/>
              </a:rPr>
              <a:t>✓ Submit Assignment A8 by Sunday 11:59 PM PST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64465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Palomar College · CSCI 250 · Fall 2026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55680" y="6446520"/>
            <a:ext cx="822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000" b="0">
                <a:solidFill>
                  <a:srgbClr val="6B7280"/>
                </a:solidFill>
                <a:latin typeface="Calibri"/>
              </a:rPr>
              <a:t>15/15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