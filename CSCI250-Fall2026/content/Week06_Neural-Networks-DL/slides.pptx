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00400"/>
            <a:ext cx="12191695" cy="73152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Week 6 — Neural Networks &amp; Deep Learning Foundations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3832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CFE3E3"/>
                </a:solidFill>
                <a:latin typeface="Calibri"/>
              </a:rPr>
              <a:t>CSCI 250 — Introduction to Artificial Intelligence · Fall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This Week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From classic ML to deep learning: neurons → layers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Activations (ReLU / sigmoid / softmax) and why nonlinearity matters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Loss, gradient descent, and backprop — intuition first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Build &amp; train a tiny network (PyTorch, NumPy fallback)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Brief tour: vision (CNNs) + sequences (Transformers)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6B7280"/>
                </a:solidFill>
                <a:latin typeface="Calibri"/>
              </a:rPr>
              <a:t>– Framing: this is the foundation under LLMs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6B7280"/>
                </a:solidFill>
                <a:latin typeface="Calibri"/>
              </a:rPr>
              <a:t>– Lab: Assignment A6 (6 pts, due Sun Oct 4)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2/14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8C8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One Neuron: The Perceptron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A Single Neuron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64240" cy="448056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/>
            <a:r>
              <a:rPr sz="1500">
                <a:solidFill>
                  <a:srgbClr val="E6E6E6"/>
                </a:solidFill>
                <a:latin typeface="Consolas"/>
              </a:rPr>
              <a:t>import numpy as np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def neuron(x, w, b):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z = np.dot(w, x) + b        # weighted sum = w·x + b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return 1 / (1 + np.exp(-z)) # sigmoid activation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neuron(np.array([1.0, 2.0]), w=np.array([0.5, -0.3]), b=0.1)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Weights say how much each input matters; learning = finding good w and 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4/14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Layers — Stacking Neurons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Input layer — your raw features (e.g., 784 pixels)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Hidden layers — where features are LEARNED ('deep' = several)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Output layer — the prediction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6B7280"/>
                </a:solidFill>
                <a:latin typeface="Calibri"/>
              </a:rPr>
              <a:t>– A dense layer is just:  H = activation(X @ W + b)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6B7280"/>
                </a:solidFill>
                <a:latin typeface="Calibri"/>
              </a:rPr>
              <a:t>– Stacking bends the decision boundary into any shape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5/14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8C8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Activations, Loss &amp; Learning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Activation Functions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28C8C"/>
                </a:solidFill>
                <a:latin typeface="Calibri"/>
              </a:rPr>
              <a:t>Hidden layers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ReLU: max(0, z)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fast, avoids vanishing gradients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the default choice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28016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28C8C"/>
                </a:solidFill>
                <a:latin typeface="Calibri"/>
              </a:rPr>
              <a:t>Output layers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828800"/>
            <a:ext cx="5120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sigmoid → (0,1) probability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softmax → class distribution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same softmax picks an LLM's next token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7/14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Loss — How Wrong Are We?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64240" cy="448056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/>
            <a:r>
              <a:rPr sz="1500">
                <a:solidFill>
                  <a:srgbClr val="E6E6E6"/>
                </a:solidFill>
                <a:latin typeface="Consolas"/>
              </a:rPr>
              <a:t>def mse(y_pred, y_true):          # regression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return np.mean((y_pred - y_true) ** 2)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def bce(p, y):                   # binary classification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p = np.clip(p, 1e-9, 1 - 1e-9)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return -np.mean(y*np.log(p) + (1-y)*np.log(1-p))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Training an LLM = minimizing cross-entropy of next-token prediction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8/14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Gradient Descent + Backprop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Predict → compute loss → find the gradient → step downhill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Update rule:  w  ←  w − learning_rate × gradient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Learning rate: too big overshoots, too small crawls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6B7280"/>
                </a:solidFill>
                <a:latin typeface="Calibri"/>
              </a:rPr>
              <a:t>– Backprop = chain rule, output → input, in one backward pass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6B7280"/>
                </a:solidFill>
                <a:latin typeface="Calibri"/>
              </a:rPr>
              <a:t>– Frameworks (PyTorch autograd) compute gradients for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9/14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8C8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Build It &amp; Scale It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A Tiny Network in PyTorch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64240" cy="448056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/>
            <a:r>
              <a:rPr sz="1400">
                <a:solidFill>
                  <a:srgbClr val="E6E6E6"/>
                </a:solidFill>
                <a:latin typeface="Consolas"/>
              </a:rPr>
              <a:t>model = nn.Sequential(</a:t>
            </a:r>
          </a:p>
          <a:p>
            <a:r>
              <a:rPr sz="1400">
                <a:solidFill>
                  <a:srgbClr val="E6E6E6"/>
                </a:solidFill>
                <a:latin typeface="Consolas"/>
              </a:rPr>
              <a:t>    nn.Linear(2, 16), nn.ReLU(),   # hidden layer</a:t>
            </a:r>
          </a:p>
          <a:p>
            <a:r>
              <a:rPr sz="1400">
                <a:solidFill>
                  <a:srgbClr val="E6E6E6"/>
                </a:solidFill>
                <a:latin typeface="Consolas"/>
              </a:rPr>
              <a:t>    nn.Linear(16, 2),              # 2-class output</a:t>
            </a:r>
          </a:p>
          <a:p>
            <a:r>
              <a:rPr sz="1400">
                <a:solidFill>
                  <a:srgbClr val="E6E6E6"/>
                </a:solidFill>
                <a:latin typeface="Consolas"/>
              </a:rPr>
              <a:t>)</a:t>
            </a:r>
          </a:p>
          <a:p>
            <a:r>
              <a:rPr sz="1400">
                <a:solidFill>
                  <a:srgbClr val="E6E6E6"/>
                </a:solidFill>
                <a:latin typeface="Consolas"/>
              </a:rPr>
              <a:t>for epoch in range(200):           # the training loop</a:t>
            </a:r>
          </a:p>
          <a:p>
            <a:r>
              <a:rPr sz="1400">
                <a:solidFill>
                  <a:srgbClr val="E6E6E6"/>
                </a:solidFill>
                <a:latin typeface="Consolas"/>
              </a:rPr>
              <a:t>    opt.zero_grad()</a:t>
            </a:r>
          </a:p>
          <a:p>
            <a:r>
              <a:rPr sz="1400">
                <a:solidFill>
                  <a:srgbClr val="E6E6E6"/>
                </a:solidFill>
                <a:latin typeface="Consolas"/>
              </a:rPr>
              <a:t>    loss = loss_fn(model(X), y)    # forward</a:t>
            </a:r>
          </a:p>
          <a:p>
            <a:r>
              <a:rPr sz="1400">
                <a:solidFill>
                  <a:srgbClr val="E6E6E6"/>
                </a:solidFill>
                <a:latin typeface="Consolas"/>
              </a:rPr>
              <a:t>    loss.backward()                # backprop</a:t>
            </a:r>
          </a:p>
          <a:p>
            <a:r>
              <a:rPr sz="1400">
                <a:solidFill>
                  <a:srgbClr val="E6E6E6"/>
                </a:solidFill>
                <a:latin typeface="Consolas"/>
              </a:rPr>
              <a:t>    opt.step()                     # gradient step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NumPy from-scratch fallback in the notebook if torch won't import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11/14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A Quick Tour Beyond Dense Nets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28C8C"/>
                </a:solidFill>
                <a:latin typeface="Calibri"/>
              </a:rPr>
              <a:t>Vision — CNNs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A small filter slides over the image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Detects edges → textures → shapes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Weight sharing makes vision practical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28016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28C8C"/>
                </a:solidFill>
                <a:latin typeface="Calibri"/>
              </a:rPr>
              <a:t>Sequences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828800"/>
            <a:ext cx="5120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RNN/LSTM read one step at a time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Transformer reads all at once (attention)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The architecture behind every LLM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12/14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The Bridge to LLMs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An LLM is a very deep Transformer with billions of WEIGHTS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Trained by gradient descent + backprop on next-token prediction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Final softmax → probability of each possible next token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6B7280"/>
                </a:solidFill>
                <a:latin typeface="Calibri"/>
              </a:rPr>
              <a:t>– Every term here you learned this week — that's the point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13/14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31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This Week — To Do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00200"/>
            <a:ext cx="3657600" cy="45720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✓ Read the document + watch 3Blue1Brown's neural-network series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✓ Run 01_tiny_neural_net.ipynb and watch the loss fall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✓ Tweak learning rate / hidden size / epochs and observe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✓ Run 02_cnn_and_sequence_tour.ipynb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✓ Submit Assignment A6 (6 pts, due Sun Oct 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14/14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